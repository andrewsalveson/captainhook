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4" r:id="rId5"/>
    <p:sldId id="261" r:id="rId6"/>
    <p:sldId id="259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0" autoAdjust="0"/>
    <p:restoredTop sz="94660"/>
  </p:normalViewPr>
  <p:slideViewPr>
    <p:cSldViewPr snapToGrid="0">
      <p:cViewPr varScale="1">
        <p:scale>
          <a:sx n="56" d="100"/>
          <a:sy n="56" d="100"/>
        </p:scale>
        <p:origin x="108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DA6C9-D162-491D-996D-B53FBB103D98}" type="datetimeFigureOut">
              <a:rPr lang="en-US" smtClean="0"/>
              <a:t>1/7/2017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E722F-ADB2-426F-A039-DAD3259D3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5936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DA6C9-D162-491D-996D-B53FBB103D98}" type="datetimeFigureOut">
              <a:rPr lang="en-US" smtClean="0"/>
              <a:t>1/7/2017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E722F-ADB2-426F-A039-DAD3259D3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095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DA6C9-D162-491D-996D-B53FBB103D98}" type="datetimeFigureOut">
              <a:rPr lang="en-US" smtClean="0"/>
              <a:t>1/7/2017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E722F-ADB2-426F-A039-DAD3259D3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3650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DA6C9-D162-491D-996D-B53FBB103D98}" type="datetimeFigureOut">
              <a:rPr lang="en-US" smtClean="0"/>
              <a:t>1/7/2017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E722F-ADB2-426F-A039-DAD3259D3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385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DA6C9-D162-491D-996D-B53FBB103D98}" type="datetimeFigureOut">
              <a:rPr lang="en-US" smtClean="0"/>
              <a:t>1/7/2017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E722F-ADB2-426F-A039-DAD3259D3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8206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DA6C9-D162-491D-996D-B53FBB103D98}" type="datetimeFigureOut">
              <a:rPr lang="en-US" smtClean="0"/>
              <a:t>1/7/2017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E722F-ADB2-426F-A039-DAD3259D3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8618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DA6C9-D162-491D-996D-B53FBB103D98}" type="datetimeFigureOut">
              <a:rPr lang="en-US" smtClean="0"/>
              <a:t>1/7/2017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E722F-ADB2-426F-A039-DAD3259D3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0652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DA6C9-D162-491D-996D-B53FBB103D98}" type="datetimeFigureOut">
              <a:rPr lang="en-US" smtClean="0"/>
              <a:t>1/7/2017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E722F-ADB2-426F-A039-DAD3259D3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690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DA6C9-D162-491D-996D-B53FBB103D98}" type="datetimeFigureOut">
              <a:rPr lang="en-US" smtClean="0"/>
              <a:t>1/7/2017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E722F-ADB2-426F-A039-DAD3259D3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922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DA6C9-D162-491D-996D-B53FBB103D98}" type="datetimeFigureOut">
              <a:rPr lang="en-US" smtClean="0"/>
              <a:t>1/7/2017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E722F-ADB2-426F-A039-DAD3259D3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2630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DA6C9-D162-491D-996D-B53FBB103D98}" type="datetimeFigureOut">
              <a:rPr lang="en-US" smtClean="0"/>
              <a:t>1/7/2017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E722F-ADB2-426F-A039-DAD3259D3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548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6DA6C9-D162-491D-996D-B53FBB103D98}" type="datetimeFigureOut">
              <a:rPr lang="en-US" smtClean="0"/>
              <a:t>1/7/2017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7E722F-ADB2-426F-A039-DAD3259D3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1366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andrewsalveson/CaptainHook-service/" TargetMode="External"/><Relationship Id="rId4" Type="http://schemas.openxmlformats.org/officeDocument/2006/relationships/hyperlink" Target="https://github.com/andrewsalveson/CaptainHook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1444271" y="3681005"/>
            <a:ext cx="626332" cy="6263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05329" y="1317564"/>
            <a:ext cx="79370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smtClean="0">
                <a:latin typeface="Cambria" panose="02040503050406030204" pitchFamily="18" charset="0"/>
              </a:rPr>
              <a:t>Capt. Hook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947" y="3716123"/>
            <a:ext cx="793709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latin typeface="Cambria" panose="02040503050406030204" pitchFamily="18" charset="0"/>
              </a:rPr>
              <a:t>Andrew </a:t>
            </a:r>
            <a:r>
              <a:rPr lang="en-US" sz="2400" b="1" dirty="0" smtClean="0">
                <a:latin typeface="Cambria" panose="02040503050406030204" pitchFamily="18" charset="0"/>
              </a:rPr>
              <a:t>“</a:t>
            </a:r>
            <a:r>
              <a:rPr lang="en-US" sz="2400" b="1" dirty="0" err="1" smtClean="0">
                <a:latin typeface="Cambria" panose="02040503050406030204" pitchFamily="18" charset="0"/>
              </a:rPr>
              <a:t>Smee</a:t>
            </a:r>
            <a:r>
              <a:rPr lang="en-US" sz="2400" b="1" dirty="0" smtClean="0">
                <a:latin typeface="Cambria" panose="02040503050406030204" pitchFamily="18" charset="0"/>
              </a:rPr>
              <a:t>” </a:t>
            </a:r>
            <a:r>
              <a:rPr lang="en-US" sz="2400" b="1" dirty="0" err="1" smtClean="0">
                <a:latin typeface="Cambria" panose="02040503050406030204" pitchFamily="18" charset="0"/>
              </a:rPr>
              <a:t>Salveson</a:t>
            </a:r>
            <a:endParaRPr lang="en-US" sz="2400" b="1" dirty="0" smtClean="0">
              <a:latin typeface="Cambria" panose="02040503050406030204" pitchFamily="18" charset="0"/>
            </a:endParaRPr>
          </a:p>
          <a:p>
            <a:endParaRPr lang="en-US" sz="2400" b="1" dirty="0">
              <a:latin typeface="Cambria" panose="02040503050406030204" pitchFamily="18" charset="0"/>
            </a:endParaRPr>
          </a:p>
          <a:p>
            <a:r>
              <a:rPr lang="en-US" sz="2400" b="1" dirty="0" smtClean="0">
                <a:latin typeface="Cambria" panose="02040503050406030204" pitchFamily="18" charset="0"/>
              </a:rPr>
              <a:t>Matthew </a:t>
            </a:r>
            <a:r>
              <a:rPr lang="en-US" sz="2400" b="1" dirty="0" smtClean="0">
                <a:latin typeface="Cambria" panose="02040503050406030204" pitchFamily="18" charset="0"/>
              </a:rPr>
              <a:t>“</a:t>
            </a:r>
            <a:r>
              <a:rPr lang="en-US" sz="2400" b="1" smtClean="0">
                <a:latin typeface="Cambria" panose="02040503050406030204" pitchFamily="18" charset="0"/>
              </a:rPr>
              <a:t>Lost Boys” Dahlhausen</a:t>
            </a:r>
            <a:endParaRPr lang="en-US" sz="2400" b="1" dirty="0" smtClean="0">
              <a:latin typeface="Cambria" panose="02040503050406030204" pitchFamily="18" charset="0"/>
            </a:endParaRPr>
          </a:p>
          <a:p>
            <a:endParaRPr lang="en-US" sz="2400" b="1" dirty="0" smtClean="0">
              <a:latin typeface="Cambria" panose="02040503050406030204" pitchFamily="18" charset="0"/>
            </a:endParaRPr>
          </a:p>
          <a:p>
            <a:r>
              <a:rPr lang="en-US" sz="2400" b="1" dirty="0" smtClean="0">
                <a:latin typeface="Cambria" panose="02040503050406030204" pitchFamily="18" charset="0"/>
              </a:rPr>
              <a:t>Luc </a:t>
            </a:r>
            <a:r>
              <a:rPr lang="en-US" sz="2400" b="1" dirty="0" smtClean="0">
                <a:latin typeface="Cambria" panose="02040503050406030204" pitchFamily="18" charset="0"/>
              </a:rPr>
              <a:t>“Tinkerbell” </a:t>
            </a:r>
            <a:r>
              <a:rPr lang="en-US" sz="2400" b="1" dirty="0" err="1" smtClean="0">
                <a:latin typeface="Cambria" panose="02040503050406030204" pitchFamily="18" charset="0"/>
              </a:rPr>
              <a:t>Deckinga</a:t>
            </a:r>
            <a:endParaRPr lang="en-US" sz="2400" b="1" dirty="0">
              <a:latin typeface="Cambria" panose="020405030504060302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605329" y="2662251"/>
            <a:ext cx="96223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i="1" dirty="0" smtClean="0">
                <a:latin typeface="Cambria" panose="02040503050406030204" pitchFamily="18" charset="0"/>
              </a:rPr>
              <a:t>A </a:t>
            </a:r>
            <a:r>
              <a:rPr lang="en-US" sz="2800" b="1" i="1" dirty="0" err="1" smtClean="0">
                <a:latin typeface="Cambria" panose="02040503050406030204" pitchFamily="18" charset="0"/>
              </a:rPr>
              <a:t>git</a:t>
            </a:r>
            <a:r>
              <a:rPr lang="en-US" sz="2800" b="1" i="1" dirty="0" smtClean="0">
                <a:latin typeface="Cambria" panose="02040503050406030204" pitchFamily="18" charset="0"/>
              </a:rPr>
              <a:t>-hook for meaningful file diffs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1438917" y="4337568"/>
            <a:ext cx="626332" cy="626332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1441594" y="4994128"/>
            <a:ext cx="626332" cy="626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1670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1670100" y="1242369"/>
            <a:ext cx="1334399" cy="1334399"/>
          </a:xfrm>
          <a:prstGeom prst="rect">
            <a:avLst/>
          </a:prstGeom>
        </p:spPr>
      </p:pic>
      <p:pic>
        <p:nvPicPr>
          <p:cNvPr id="1026" name="Picture 2" descr="https://d30y9cdsu7xlg0.cloudfront.net/png/9414-200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267" y="296057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2879493" y="458216"/>
            <a:ext cx="79370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smtClean="0">
                <a:latin typeface="Cambria" panose="02040503050406030204" pitchFamily="18" charset="0"/>
              </a:rPr>
              <a:t>The Problem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267" y="2787500"/>
            <a:ext cx="3390900" cy="4010025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3033792" y="1595136"/>
            <a:ext cx="626332" cy="6263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784468" y="1535558"/>
            <a:ext cx="793709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latin typeface="Cambria" panose="02040503050406030204" pitchFamily="18" charset="0"/>
              </a:rPr>
              <a:t>Versioning software and diffs were written for code, where seeing single line changes are easy to see</a:t>
            </a:r>
          </a:p>
          <a:p>
            <a:endParaRPr lang="en-US" sz="2000" b="1" dirty="0">
              <a:latin typeface="Cambria" panose="02040503050406030204" pitchFamily="18" charset="0"/>
            </a:endParaRPr>
          </a:p>
          <a:p>
            <a:r>
              <a:rPr lang="en-US" sz="2000" b="1" dirty="0" smtClean="0">
                <a:latin typeface="Cambria" panose="02040503050406030204" pitchFamily="18" charset="0"/>
              </a:rPr>
              <a:t>This isn’t helpful for block text changes (e.g. </a:t>
            </a:r>
            <a:r>
              <a:rPr lang="en-US" sz="2000" b="1" dirty="0" err="1" smtClean="0">
                <a:latin typeface="Cambria" panose="02040503050406030204" pitchFamily="18" charset="0"/>
              </a:rPr>
              <a:t>OpenStudio</a:t>
            </a:r>
            <a:r>
              <a:rPr lang="en-US" sz="2000" b="1" dirty="0" smtClean="0">
                <a:latin typeface="Cambria" panose="02040503050406030204" pitchFamily="18" charset="0"/>
              </a:rPr>
              <a:t> models) or non-text, graphical files (e.g. Grasshopper files)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3028438" y="2251699"/>
            <a:ext cx="626332" cy="6263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784468" y="3753217"/>
            <a:ext cx="33236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latin typeface="Cambria" panose="02040503050406030204" pitchFamily="18" charset="0"/>
              </a:rPr>
              <a:t>&lt;- </a:t>
            </a:r>
            <a:r>
              <a:rPr lang="en-US" sz="2000" b="1" dirty="0" err="1" smtClean="0">
                <a:latin typeface="Cambria" panose="02040503050406030204" pitchFamily="18" charset="0"/>
              </a:rPr>
              <a:t>Github</a:t>
            </a:r>
            <a:r>
              <a:rPr lang="en-US" sz="2000" b="1" dirty="0" smtClean="0">
                <a:latin typeface="Cambria" panose="02040503050406030204" pitchFamily="18" charset="0"/>
              </a:rPr>
              <a:t> </a:t>
            </a:r>
            <a:r>
              <a:rPr lang="en-US" sz="2000" b="1" dirty="0" err="1" smtClean="0">
                <a:latin typeface="Cambria" panose="02040503050406030204" pitchFamily="18" charset="0"/>
              </a:rPr>
              <a:t>OpenStudio</a:t>
            </a:r>
            <a:r>
              <a:rPr lang="en-US" sz="2000" b="1" dirty="0" smtClean="0">
                <a:latin typeface="Cambria" panose="02040503050406030204" pitchFamily="18" charset="0"/>
              </a:rPr>
              <a:t> diff</a:t>
            </a:r>
          </a:p>
          <a:p>
            <a:endParaRPr lang="en-US" sz="2000" b="1" dirty="0">
              <a:latin typeface="Cambria" panose="02040503050406030204" pitchFamily="18" charset="0"/>
            </a:endParaRPr>
          </a:p>
          <a:p>
            <a:r>
              <a:rPr lang="en-US" sz="2000" b="1" dirty="0" err="1" smtClean="0">
                <a:latin typeface="Cambria" panose="02040503050406030204" pitchFamily="18" charset="0"/>
              </a:rPr>
              <a:t>Github</a:t>
            </a:r>
            <a:r>
              <a:rPr lang="en-US" sz="2000" b="1" dirty="0" smtClean="0">
                <a:latin typeface="Cambria" panose="02040503050406030204" pitchFamily="18" charset="0"/>
              </a:rPr>
              <a:t> </a:t>
            </a:r>
            <a:r>
              <a:rPr lang="en-US" sz="2000" b="1" dirty="0" err="1" smtClean="0">
                <a:latin typeface="Cambria" panose="02040503050406030204" pitchFamily="18" charset="0"/>
              </a:rPr>
              <a:t>Grassopper</a:t>
            </a:r>
            <a:r>
              <a:rPr lang="en-US" sz="2000" b="1" dirty="0" smtClean="0">
                <a:latin typeface="Cambria" panose="02040503050406030204" pitchFamily="18" charset="0"/>
              </a:rPr>
              <a:t> diff -&gt;</a:t>
            </a:r>
          </a:p>
        </p:txBody>
      </p:sp>
    </p:spTree>
    <p:extLst>
      <p:ext uri="{BB962C8B-B14F-4D97-AF65-F5344CB8AC3E}">
        <p14:creationId xmlns:p14="http://schemas.microsoft.com/office/powerpoint/2010/main" val="13103059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1670100" y="1242369"/>
            <a:ext cx="1334399" cy="1334399"/>
          </a:xfrm>
          <a:prstGeom prst="rect">
            <a:avLst/>
          </a:prstGeom>
        </p:spPr>
      </p:pic>
      <p:pic>
        <p:nvPicPr>
          <p:cNvPr id="1026" name="Picture 2" descr="https://d30y9cdsu7xlg0.cloudfront.net/png/9414-200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267" y="296057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2879493" y="458216"/>
            <a:ext cx="79370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smtClean="0">
                <a:latin typeface="Cambria" panose="02040503050406030204" pitchFamily="18" charset="0"/>
              </a:rPr>
              <a:t>Our Solution: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8779" y="1617180"/>
            <a:ext cx="79370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 smtClean="0">
                <a:latin typeface="Cambria" panose="02040503050406030204" pitchFamily="18" charset="0"/>
              </a:rPr>
              <a:t>Take these meaningful diffs…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0767" y="2561440"/>
            <a:ext cx="4495800" cy="42672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7328" y="2229243"/>
            <a:ext cx="3751665" cy="4599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0473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1670100" y="1242369"/>
            <a:ext cx="1334399" cy="1334399"/>
          </a:xfrm>
          <a:prstGeom prst="rect">
            <a:avLst/>
          </a:prstGeom>
        </p:spPr>
      </p:pic>
      <p:pic>
        <p:nvPicPr>
          <p:cNvPr id="1026" name="Picture 2" descr="https://d30y9cdsu7xlg0.cloudfront.net/png/9414-200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267" y="296057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2879493" y="458216"/>
            <a:ext cx="79370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smtClean="0">
                <a:latin typeface="Cambria" panose="02040503050406030204" pitchFamily="18" charset="0"/>
              </a:rPr>
              <a:t>Our Solution: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8779" y="1617180"/>
            <a:ext cx="79370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 smtClean="0">
                <a:latin typeface="Cambria" panose="02040503050406030204" pitchFamily="18" charset="0"/>
              </a:rPr>
              <a:t>Take these meaningful diffs…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08889"/>
            <a:ext cx="12192000" cy="4149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6768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1670100" y="1242369"/>
            <a:ext cx="1334399" cy="1334399"/>
          </a:xfrm>
          <a:prstGeom prst="rect">
            <a:avLst/>
          </a:prstGeom>
        </p:spPr>
      </p:pic>
      <p:pic>
        <p:nvPicPr>
          <p:cNvPr id="1026" name="Picture 2" descr="https://d30y9cdsu7xlg0.cloudfront.net/png/9414-200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267" y="296057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2879493" y="458216"/>
            <a:ext cx="79370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smtClean="0">
                <a:latin typeface="Cambria" panose="02040503050406030204" pitchFamily="18" charset="0"/>
              </a:rPr>
              <a:t>Our Solution: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8778" y="1617180"/>
            <a:ext cx="86401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 smtClean="0">
                <a:latin typeface="Cambria" panose="02040503050406030204" pitchFamily="18" charset="0"/>
              </a:rPr>
              <a:t>…and generate them on pushing to </a:t>
            </a:r>
            <a:r>
              <a:rPr lang="en-US" sz="3200" b="1" dirty="0" err="1" smtClean="0">
                <a:latin typeface="Cambria" panose="02040503050406030204" pitchFamily="18" charset="0"/>
              </a:rPr>
              <a:t>github</a:t>
            </a:r>
            <a:endParaRPr lang="en-US" sz="3200" b="1" dirty="0" smtClean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1622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1670100" y="1242369"/>
            <a:ext cx="1334399" cy="1334399"/>
          </a:xfrm>
          <a:prstGeom prst="rect">
            <a:avLst/>
          </a:prstGeom>
        </p:spPr>
      </p:pic>
      <p:pic>
        <p:nvPicPr>
          <p:cNvPr id="1026" name="Picture 2" descr="https://d30y9cdsu7xlg0.cloudfront.net/png/9414-200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267" y="296057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2879493" y="458216"/>
            <a:ext cx="79370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smtClean="0">
                <a:latin typeface="Cambria" panose="02040503050406030204" pitchFamily="18" charset="0"/>
              </a:rPr>
              <a:t>Tech Stack: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3014545" y="1848475"/>
            <a:ext cx="626332" cy="6263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765221" y="1883593"/>
            <a:ext cx="7937098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err="1" smtClean="0">
                <a:latin typeface="Cambria" panose="02040503050406030204" pitchFamily="18" charset="0"/>
              </a:rPr>
              <a:t>OpenStudio</a:t>
            </a:r>
            <a:r>
              <a:rPr lang="en-US" sz="2000" b="1" dirty="0" smtClean="0">
                <a:latin typeface="Cambria" panose="02040503050406030204" pitchFamily="18" charset="0"/>
              </a:rPr>
              <a:t> + </a:t>
            </a:r>
            <a:r>
              <a:rPr lang="en-US" sz="2000" b="1" dirty="0" err="1" smtClean="0">
                <a:latin typeface="Cambria" panose="02040503050406030204" pitchFamily="18" charset="0"/>
              </a:rPr>
              <a:t>ReportModelChanges</a:t>
            </a:r>
            <a:r>
              <a:rPr lang="en-US" sz="2000" b="1" dirty="0" smtClean="0">
                <a:latin typeface="Cambria" panose="02040503050406030204" pitchFamily="18" charset="0"/>
              </a:rPr>
              <a:t> Measure</a:t>
            </a:r>
          </a:p>
          <a:p>
            <a:endParaRPr lang="en-US" sz="2000" b="1" dirty="0">
              <a:latin typeface="Cambria" panose="02040503050406030204" pitchFamily="18" charset="0"/>
            </a:endParaRPr>
          </a:p>
          <a:p>
            <a:r>
              <a:rPr lang="en-US" sz="2000" b="1" dirty="0" smtClean="0">
                <a:latin typeface="Cambria" panose="02040503050406030204" pitchFamily="18" charset="0"/>
              </a:rPr>
              <a:t>Grasshopper </a:t>
            </a:r>
          </a:p>
          <a:p>
            <a:endParaRPr lang="en-US" sz="2000" b="1" dirty="0">
              <a:latin typeface="Cambria" panose="02040503050406030204" pitchFamily="18" charset="0"/>
            </a:endParaRPr>
          </a:p>
          <a:p>
            <a:r>
              <a:rPr lang="en-US" sz="2000" b="1" dirty="0" smtClean="0">
                <a:latin typeface="Cambria" panose="02040503050406030204" pitchFamily="18" charset="0"/>
              </a:rPr>
              <a:t>VVD </a:t>
            </a:r>
            <a:r>
              <a:rPr lang="en-US" sz="2000" b="1" i="1" dirty="0" smtClean="0">
                <a:latin typeface="Cambria" panose="02040503050406030204" pitchFamily="18" charset="0"/>
              </a:rPr>
              <a:t>(diff engine for grasshopper files from Thornton </a:t>
            </a:r>
            <a:r>
              <a:rPr lang="en-US" sz="2000" b="1" i="1" dirty="0" err="1" smtClean="0">
                <a:latin typeface="Cambria" panose="02040503050406030204" pitchFamily="18" charset="0"/>
              </a:rPr>
              <a:t>Tomasetti</a:t>
            </a:r>
            <a:r>
              <a:rPr lang="en-US" sz="2000" b="1" i="1" dirty="0" smtClean="0">
                <a:latin typeface="Cambria" panose="02040503050406030204" pitchFamily="18" charset="0"/>
              </a:rPr>
              <a:t> AEC Hackathon 2015)</a:t>
            </a:r>
          </a:p>
          <a:p>
            <a:endParaRPr lang="en-US" sz="2000" b="1" dirty="0">
              <a:latin typeface="Cambria" panose="02040503050406030204" pitchFamily="18" charset="0"/>
            </a:endParaRPr>
          </a:p>
          <a:p>
            <a:r>
              <a:rPr lang="en-US" sz="2000" b="1" dirty="0" smtClean="0">
                <a:latin typeface="Cambria" panose="02040503050406030204" pitchFamily="18" charset="0"/>
              </a:rPr>
              <a:t>Node.js + Docker</a:t>
            </a:r>
          </a:p>
          <a:p>
            <a:endParaRPr lang="en-US" sz="2000" b="1" dirty="0">
              <a:latin typeface="Cambria" panose="02040503050406030204" pitchFamily="18" charset="0"/>
            </a:endParaRPr>
          </a:p>
          <a:p>
            <a:r>
              <a:rPr lang="en-US" sz="2000" b="1" dirty="0" smtClean="0">
                <a:latin typeface="Cambria" panose="02040503050406030204" pitchFamily="18" charset="0"/>
              </a:rPr>
              <a:t>All code free/</a:t>
            </a:r>
            <a:r>
              <a:rPr lang="en-US" sz="2000" b="1" dirty="0" err="1" smtClean="0">
                <a:latin typeface="Cambria" panose="02040503050406030204" pitchFamily="18" charset="0"/>
              </a:rPr>
              <a:t>opensource</a:t>
            </a:r>
            <a:r>
              <a:rPr lang="en-US" sz="2000" b="1" dirty="0" smtClean="0">
                <a:latin typeface="Cambria" panose="02040503050406030204" pitchFamily="18" charset="0"/>
              </a:rPr>
              <a:t> (MIT License)</a:t>
            </a:r>
          </a:p>
          <a:p>
            <a:endParaRPr lang="en-US" sz="2000" b="1" dirty="0" smtClean="0">
              <a:latin typeface="Cambria" panose="02040503050406030204" pitchFamily="18" charset="0"/>
            </a:endParaRPr>
          </a:p>
          <a:p>
            <a:r>
              <a:rPr lang="en-US" sz="2000" b="1" dirty="0" smtClean="0">
                <a:latin typeface="Cambria" panose="02040503050406030204" pitchFamily="18" charset="0"/>
                <a:hlinkClick r:id="rId4"/>
              </a:rPr>
              <a:t>github.com/</a:t>
            </a:r>
            <a:r>
              <a:rPr lang="en-US" sz="2000" b="1" dirty="0" err="1" smtClean="0">
                <a:latin typeface="Cambria" panose="02040503050406030204" pitchFamily="18" charset="0"/>
                <a:hlinkClick r:id="rId4"/>
              </a:rPr>
              <a:t>andrewsalveson</a:t>
            </a:r>
            <a:r>
              <a:rPr lang="en-US" sz="2000" b="1" dirty="0" smtClean="0">
                <a:latin typeface="Cambria" panose="02040503050406030204" pitchFamily="18" charset="0"/>
                <a:hlinkClick r:id="rId4"/>
              </a:rPr>
              <a:t>/</a:t>
            </a:r>
            <a:r>
              <a:rPr lang="en-US" sz="2000" b="1" dirty="0" err="1" smtClean="0">
                <a:latin typeface="Cambria" panose="02040503050406030204" pitchFamily="18" charset="0"/>
                <a:hlinkClick r:id="rId4"/>
              </a:rPr>
              <a:t>CaptainHook</a:t>
            </a:r>
            <a:r>
              <a:rPr lang="en-US" sz="2000" b="1" dirty="0" smtClean="0">
                <a:latin typeface="Cambria" panose="02040503050406030204" pitchFamily="18" charset="0"/>
                <a:hlinkClick r:id="rId4"/>
              </a:rPr>
              <a:t>/</a:t>
            </a:r>
            <a:endParaRPr lang="en-US" sz="2000" b="1" dirty="0" smtClean="0">
              <a:latin typeface="Cambria" panose="02040503050406030204" pitchFamily="18" charset="0"/>
            </a:endParaRPr>
          </a:p>
          <a:p>
            <a:r>
              <a:rPr lang="en-US" sz="2000" b="1" dirty="0" smtClean="0">
                <a:latin typeface="Cambria" panose="02040503050406030204" pitchFamily="18" charset="0"/>
                <a:hlinkClick r:id="rId5"/>
              </a:rPr>
              <a:t>github.com/</a:t>
            </a:r>
            <a:r>
              <a:rPr lang="en-US" sz="2000" b="1" dirty="0" err="1" smtClean="0">
                <a:latin typeface="Cambria" panose="02040503050406030204" pitchFamily="18" charset="0"/>
                <a:hlinkClick r:id="rId5"/>
              </a:rPr>
              <a:t>andrewsalveson</a:t>
            </a:r>
            <a:r>
              <a:rPr lang="en-US" sz="2000" b="1" dirty="0" smtClean="0">
                <a:latin typeface="Cambria" panose="02040503050406030204" pitchFamily="18" charset="0"/>
                <a:hlinkClick r:id="rId5"/>
              </a:rPr>
              <a:t>/</a:t>
            </a:r>
            <a:r>
              <a:rPr lang="en-US" sz="2000" b="1" dirty="0" err="1" smtClean="0">
                <a:latin typeface="Cambria" panose="02040503050406030204" pitchFamily="18" charset="0"/>
                <a:hlinkClick r:id="rId5"/>
              </a:rPr>
              <a:t>CaptainHook</a:t>
            </a:r>
            <a:r>
              <a:rPr lang="en-US" sz="2000" b="1" dirty="0" smtClean="0">
                <a:latin typeface="Cambria" panose="02040503050406030204" pitchFamily="18" charset="0"/>
                <a:hlinkClick r:id="rId5"/>
              </a:rPr>
              <a:t>-service/</a:t>
            </a:r>
            <a:endParaRPr lang="en-US" sz="2000" b="1" dirty="0" smtClean="0">
              <a:latin typeface="Cambria" panose="02040503050406030204" pitchFamily="18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3009191" y="2505038"/>
            <a:ext cx="626332" cy="626332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3011868" y="3161598"/>
            <a:ext cx="626332" cy="626332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2967653" y="3886637"/>
            <a:ext cx="626332" cy="626332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2962299" y="4543200"/>
            <a:ext cx="626332" cy="62633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2964976" y="5199760"/>
            <a:ext cx="626332" cy="626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7318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1670100" y="1242369"/>
            <a:ext cx="1334399" cy="1334399"/>
          </a:xfrm>
          <a:prstGeom prst="rect">
            <a:avLst/>
          </a:prstGeom>
        </p:spPr>
      </p:pic>
      <p:pic>
        <p:nvPicPr>
          <p:cNvPr id="1026" name="Picture 2" descr="https://d30y9cdsu7xlg0.cloudfront.net/png/9414-200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267" y="296057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2879493" y="458216"/>
            <a:ext cx="79370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smtClean="0">
                <a:latin typeface="Cambria" panose="02040503050406030204" pitchFamily="18" charset="0"/>
              </a:rPr>
              <a:t>What We Learned: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3014545" y="1848475"/>
            <a:ext cx="626332" cy="6263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765221" y="1883593"/>
            <a:ext cx="793709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latin typeface="Cambria" panose="02040503050406030204" pitchFamily="18" charset="0"/>
              </a:rPr>
              <a:t>Just because you can run a ruby gem on your server doesn’t mean Node.js can find it - Andrew</a:t>
            </a:r>
          </a:p>
          <a:p>
            <a:endParaRPr lang="en-US" sz="2000" b="1" dirty="0">
              <a:latin typeface="Cambria" panose="02040503050406030204" pitchFamily="18" charset="0"/>
            </a:endParaRPr>
          </a:p>
          <a:p>
            <a:r>
              <a:rPr lang="en-US" sz="2000" b="1" dirty="0" smtClean="0">
                <a:latin typeface="Cambria" panose="02040503050406030204" pitchFamily="18" charset="0"/>
              </a:rPr>
              <a:t>Shell Scripting! – Luc</a:t>
            </a:r>
          </a:p>
          <a:p>
            <a:endParaRPr lang="en-US" sz="2000" b="1" dirty="0">
              <a:latin typeface="Cambria" panose="02040503050406030204" pitchFamily="18" charset="0"/>
            </a:endParaRPr>
          </a:p>
          <a:p>
            <a:r>
              <a:rPr lang="en-US" sz="2000" b="1" dirty="0" err="1" smtClean="0">
                <a:latin typeface="Cambria" panose="02040503050406030204" pitchFamily="18" charset="0"/>
              </a:rPr>
              <a:t>OpenStudio</a:t>
            </a:r>
            <a:r>
              <a:rPr lang="en-US" sz="2000" b="1" dirty="0" smtClean="0">
                <a:latin typeface="Cambria" panose="02040503050406030204" pitchFamily="18" charset="0"/>
              </a:rPr>
              <a:t> Command Line Interface and Node.js - Matt </a:t>
            </a:r>
          </a:p>
          <a:p>
            <a:endParaRPr lang="en-US" sz="2000" b="1" dirty="0">
              <a:latin typeface="Cambria" panose="02040503050406030204" pitchFamily="18" charset="0"/>
            </a:endParaRPr>
          </a:p>
          <a:p>
            <a:endParaRPr lang="en-US" sz="2000" b="1" dirty="0" smtClean="0">
              <a:latin typeface="Cambria" panose="02040503050406030204" pitchFamily="18" charset="0"/>
            </a:endParaRPr>
          </a:p>
          <a:p>
            <a:endParaRPr lang="en-US" sz="2000" b="1" dirty="0" smtClean="0">
              <a:latin typeface="Cambria" panose="02040503050406030204" pitchFamily="18" charset="0"/>
            </a:endParaRPr>
          </a:p>
          <a:p>
            <a:endParaRPr lang="en-US" sz="2000" b="1" dirty="0" smtClean="0">
              <a:latin typeface="Cambria" panose="02040503050406030204" pitchFamily="18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3009191" y="2505038"/>
            <a:ext cx="626332" cy="626332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3011868" y="3161598"/>
            <a:ext cx="626332" cy="626332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2967653" y="3886637"/>
            <a:ext cx="626332" cy="626332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2962299" y="4543200"/>
            <a:ext cx="626332" cy="62633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2964976" y="5199760"/>
            <a:ext cx="626332" cy="626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0503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1670100" y="1242369"/>
            <a:ext cx="1334399" cy="1334399"/>
          </a:xfrm>
          <a:prstGeom prst="rect">
            <a:avLst/>
          </a:prstGeom>
        </p:spPr>
      </p:pic>
      <p:pic>
        <p:nvPicPr>
          <p:cNvPr id="1026" name="Picture 2" descr="https://d30y9cdsu7xlg0.cloudfront.net/png/9414-200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267" y="296057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2879493" y="458216"/>
            <a:ext cx="79370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smtClean="0">
                <a:latin typeface="Cambria" panose="02040503050406030204" pitchFamily="18" charset="0"/>
              </a:rPr>
              <a:t>Next Steps: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3014545" y="1848475"/>
            <a:ext cx="626332" cy="6263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765221" y="1883593"/>
            <a:ext cx="793709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latin typeface="Cambria" panose="02040503050406030204" pitchFamily="18" charset="0"/>
              </a:rPr>
              <a:t>Enable as local service</a:t>
            </a:r>
          </a:p>
          <a:p>
            <a:endParaRPr lang="en-US" sz="2000" b="1" dirty="0">
              <a:latin typeface="Cambria" panose="02040503050406030204" pitchFamily="18" charset="0"/>
            </a:endParaRPr>
          </a:p>
          <a:p>
            <a:r>
              <a:rPr lang="en-US" sz="2000" b="1" dirty="0" smtClean="0">
                <a:latin typeface="Cambria" panose="02040503050406030204" pitchFamily="18" charset="0"/>
              </a:rPr>
              <a:t>This can be extended to run more than diffs on files, e.g. run </a:t>
            </a:r>
            <a:r>
              <a:rPr lang="en-US" sz="2000" b="1" dirty="0" err="1" smtClean="0">
                <a:latin typeface="Cambria" panose="02040503050406030204" pitchFamily="18" charset="0"/>
              </a:rPr>
              <a:t>openstudio</a:t>
            </a:r>
            <a:r>
              <a:rPr lang="en-US" sz="2000" b="1" dirty="0">
                <a:latin typeface="Cambria" panose="02040503050406030204" pitchFamily="18" charset="0"/>
              </a:rPr>
              <a:t> </a:t>
            </a:r>
            <a:r>
              <a:rPr lang="en-US" sz="2000" b="1" dirty="0" smtClean="0">
                <a:latin typeface="Cambria" panose="02040503050406030204" pitchFamily="18" charset="0"/>
              </a:rPr>
              <a:t>models and report energy use differences</a:t>
            </a:r>
            <a:endParaRPr lang="en-US" sz="2000" b="1" dirty="0">
              <a:latin typeface="Cambria" panose="02040503050406030204" pitchFamily="18" charset="0"/>
            </a:endParaRPr>
          </a:p>
          <a:p>
            <a:endParaRPr lang="en-US" sz="2000" b="1" dirty="0" smtClean="0">
              <a:latin typeface="Cambria" panose="02040503050406030204" pitchFamily="18" charset="0"/>
            </a:endParaRPr>
          </a:p>
          <a:p>
            <a:endParaRPr lang="en-US" sz="2000" b="1" dirty="0" smtClean="0">
              <a:latin typeface="Cambria" panose="02040503050406030204" pitchFamily="18" charset="0"/>
            </a:endParaRPr>
          </a:p>
          <a:p>
            <a:endParaRPr lang="en-US" sz="2000" b="1" dirty="0" smtClean="0">
              <a:latin typeface="Cambria" panose="02040503050406030204" pitchFamily="18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3009191" y="2505038"/>
            <a:ext cx="626332" cy="626332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3011868" y="3161598"/>
            <a:ext cx="626332" cy="626332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2967653" y="3886637"/>
            <a:ext cx="626332" cy="626332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2962299" y="4543200"/>
            <a:ext cx="626332" cy="62633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2964976" y="5199760"/>
            <a:ext cx="626332" cy="626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8960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205</Words>
  <Application>Microsoft Office PowerPoint</Application>
  <PresentationFormat>Widescreen</PresentationFormat>
  <Paragraphs>46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Integral Group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Matthew Dahlhausen</dc:creator>
  <cp:lastModifiedBy>Matthew Dahlhausen</cp:lastModifiedBy>
  <cp:revision>14</cp:revision>
  <dcterms:created xsi:type="dcterms:W3CDTF">2017-01-08T01:20:41Z</dcterms:created>
  <dcterms:modified xsi:type="dcterms:W3CDTF">2017-01-08T02:58:07Z</dcterms:modified>
</cp:coreProperties>
</file>